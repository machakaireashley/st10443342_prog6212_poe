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75" r:id="rId8"/>
    <p:sldId id="277" r:id="rId9"/>
    <p:sldId id="261" r:id="rId10"/>
    <p:sldId id="276" r:id="rId11"/>
    <p:sldId id="262" r:id="rId12"/>
    <p:sldId id="263" r:id="rId13"/>
    <p:sldId id="264" r:id="rId14"/>
    <p:sldId id="265" r:id="rId15"/>
    <p:sldId id="266" r:id="rId16"/>
    <p:sldId id="267" r:id="rId17"/>
    <p:sldId id="273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049F2-C621-0132-BC02-1521436024CC}" v="20" dt="2025-11-18T01:04:59.962"/>
    <p1510:client id="{AEF8BDDF-BFE2-BE0F-D888-4EF511201366}" v="147" dt="2025-11-18T00:56:41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7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83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08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7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02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4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9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525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9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5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1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" TargetMode="External"/><Relationship Id="rId7" Type="http://schemas.openxmlformats.org/officeDocument/2006/relationships/hyperlink" Target="https://api.jquery.com/" TargetMode="External"/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tbootstrap.com/docs/5.3/" TargetMode="External"/><Relationship Id="rId5" Type="http://schemas.openxmlformats.org/officeDocument/2006/relationships/hyperlink" Target="https://docs.microsoft.com/en-us/dotnet/core/" TargetMode="External"/><Relationship Id="rId4" Type="http://schemas.openxmlformats.org/officeDocument/2006/relationships/hyperlink" Target="https://learn.microsoft.com/en-us/ef/co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Contract Monthly Claim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By: Ashley </a:t>
            </a:r>
            <a:r>
              <a:rPr lang="en-US" dirty="0" err="1"/>
              <a:t>Spiwe</a:t>
            </a:r>
            <a:r>
              <a:rPr lang="en-US" dirty="0"/>
              <a:t> </a:t>
            </a:r>
            <a:r>
              <a:rPr lang="en-US" dirty="0" err="1"/>
              <a:t>Machakaire</a:t>
            </a:r>
            <a:r>
              <a:rPr lang="en-US" dirty="0"/>
              <a:t> </a:t>
            </a:r>
          </a:p>
          <a:p>
            <a:r>
              <a:rPr lang="en-US" dirty="0"/>
              <a:t>Student number: ST10443342</a:t>
            </a:r>
          </a:p>
          <a:p>
            <a:r>
              <a:rPr lang="en-US" dirty="0"/>
              <a:t>Module: Programming 2B (PROG6212)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A138-6EE4-41EA-6ED4-8F9C3ADA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Introduction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DD62D-0099-BF6F-FAAA-E93715567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The Problem: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Manual, inefficient, and error-prone process for Independent Contractor (IC) lecturers to submit and get claims approved.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POE Objective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: To design, develop, and enhance a .NET web-based application that automates this entire workflow.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Project Parts: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Part 1: Project Planning &amp; Prototype Design (Non-functional UI, UML, Plan).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Part 2: Functional Prototype Implementation (Core features, testing).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Part 3: Application Enhancement &amp; Automation (Advanced features, reporting).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Aptos Light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8EC6F-4F4A-E703-18E3-7940AEF4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02CA-E8B1-4E90-8DA8-38F748EB083A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0FAC0-727A-B0B1-1DC0-6FF9F0EB3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9395-BD7C-104C-5034-B9876A66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53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D0CC-2771-77D5-5416-2BFA61EA9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The Foundation- Planning and Design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48995-CF80-3626-494C-45349C293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35403A"/>
                </a:solidFill>
                <a:ea typeface="+mn-lt"/>
                <a:cs typeface="+mn-lt"/>
              </a:rPr>
              <a:t>Documentation &amp; Rationale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: Detailed design choices for a multi-role system (Lecturer, Coordinator, Manager, Admin). Justified a clean, intuitive UI for ease of use.</a:t>
            </a:r>
            <a:endParaRPr lang="en-US" dirty="0">
              <a:solidFill>
                <a:srgbClr val="35403A"/>
              </a:solidFill>
              <a:latin typeface="Aptos Light"/>
              <a:ea typeface="+mn-lt"/>
              <a:cs typeface="+mn-lt"/>
            </a:endParaRPr>
          </a:p>
          <a:p>
            <a:r>
              <a:rPr lang="en-US" b="1" dirty="0">
                <a:solidFill>
                  <a:srgbClr val="35403A"/>
                </a:solidFill>
                <a:ea typeface="+mn-lt"/>
                <a:cs typeface="+mn-lt"/>
              </a:rPr>
              <a:t>UML Class Diagram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: Designed a comprehensive diagram outlining the core entities: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5403A"/>
                </a:solidFill>
                <a:latin typeface="Aptos Light"/>
                <a:ea typeface="+mn-lt"/>
                <a:cs typeface="+mn-lt"/>
              </a:rPr>
              <a:t>ApplicationUser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 (inherits from </a:t>
            </a:r>
            <a:r>
              <a:rPr lang="en-US" err="1">
                <a:solidFill>
                  <a:srgbClr val="35403A"/>
                </a:solidFill>
                <a:latin typeface="Aptos Light"/>
                <a:ea typeface="+mn-lt"/>
                <a:cs typeface="+mn-lt"/>
              </a:rPr>
              <a:t>IdentityUser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), </a:t>
            </a:r>
            <a:r>
              <a:rPr lang="en-US" dirty="0">
                <a:solidFill>
                  <a:srgbClr val="35403A"/>
                </a:solidFill>
                <a:latin typeface="Aptos Light"/>
                <a:ea typeface="+mn-lt"/>
                <a:cs typeface="+mn-lt"/>
              </a:rPr>
              <a:t>Claim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, </a:t>
            </a:r>
            <a:r>
              <a:rPr lang="en-US" dirty="0">
                <a:solidFill>
                  <a:srgbClr val="35403A"/>
                </a:solidFill>
                <a:latin typeface="Aptos Light"/>
                <a:ea typeface="+mn-lt"/>
                <a:cs typeface="+mn-lt"/>
              </a:rPr>
              <a:t>Document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, </a:t>
            </a:r>
            <a:r>
              <a:rPr lang="en-US" dirty="0">
                <a:solidFill>
                  <a:srgbClr val="35403A"/>
                </a:solidFill>
                <a:latin typeface="Aptos Light"/>
                <a:ea typeface="+mn-lt"/>
                <a:cs typeface="+mn-lt"/>
              </a:rPr>
              <a:t>Notification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, </a:t>
            </a:r>
            <a:r>
              <a:rPr lang="en-US" dirty="0">
                <a:solidFill>
                  <a:srgbClr val="35403A"/>
                </a:solidFill>
                <a:latin typeface="Aptos Light"/>
                <a:ea typeface="+mn-lt"/>
                <a:cs typeface="+mn-lt"/>
              </a:rPr>
              <a:t>Message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Clearly defined relationships (e.g., User has many Claims, Claim has many Documents).</a:t>
            </a:r>
            <a:endParaRPr lang="en-US" dirty="0"/>
          </a:p>
          <a:p>
            <a:r>
              <a:rPr lang="en-US" b="1" dirty="0">
                <a:solidFill>
                  <a:srgbClr val="35403A"/>
                </a:solidFill>
                <a:ea typeface="+mn-lt"/>
                <a:cs typeface="+mn-lt"/>
              </a:rPr>
              <a:t>Project Plan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: A realistic timeline and task breakdown for the prototype development phase.</a:t>
            </a:r>
            <a:endParaRPr lang="en-US" dirty="0"/>
          </a:p>
          <a:p>
            <a:r>
              <a:rPr lang="en-US" b="1" dirty="0">
                <a:solidFill>
                  <a:srgbClr val="35403A"/>
                </a:solidFill>
                <a:ea typeface="+mn-lt"/>
                <a:cs typeface="+mn-lt"/>
              </a:rPr>
              <a:t>GUI Prototype</a:t>
            </a:r>
            <a:r>
              <a:rPr lang="en-US" dirty="0">
                <a:solidFill>
                  <a:srgbClr val="35403A"/>
                </a:solidFill>
                <a:ea typeface="+mn-lt"/>
                <a:cs typeface="+mn-lt"/>
              </a:rPr>
              <a:t>: Developed a front-end prototype in ASP.NET Core MVC, establishing the navigation structure and page layouts for all user roles.</a:t>
            </a:r>
            <a:endParaRPr lang="en-US" dirty="0"/>
          </a:p>
          <a:p>
            <a:endParaRPr lang="en-US" dirty="0">
              <a:latin typeface="Aptos Light"/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FF336-B93A-C653-E5CC-FF0039AB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9F97-37FD-4EA0-A1B0-FB5F830E5342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F684-120A-EE06-5550-BCEEAAFA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E27D4-65AF-91DC-1E93-0C45A476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00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073A-302C-4686-DEFD-62EC700C3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 anchor="b">
            <a:normAutofit/>
          </a:bodyPr>
          <a:lstStyle/>
          <a:p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7DD4620-4556-31AB-11B0-0A1952326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/>
          <a:lstStyle/>
          <a:p>
            <a:r>
              <a:rPr lang="en-US" dirty="0"/>
              <a:t>INITIAL DASHBOARD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22F732-052B-92E5-378E-5670366A51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81349" y="3026030"/>
            <a:ext cx="4963538" cy="2469360"/>
          </a:xfrm>
          <a:prstGeom prst="rect">
            <a:avLst/>
          </a:prstGeom>
          <a:noFill/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AD89DE9-1734-5359-EFDC-6E17BA21F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/>
          <a:lstStyle/>
          <a:p>
            <a:r>
              <a:rPr lang="en-US" dirty="0"/>
              <a:t>Initial </a:t>
            </a:r>
            <a:r>
              <a:rPr lang="en-US" dirty="0" err="1"/>
              <a:t>uml</a:t>
            </a:r>
            <a:r>
              <a:rPr lang="en-US" dirty="0"/>
              <a:t> CLASS </a:t>
            </a:r>
            <a:r>
              <a:rPr lang="en-US" dirty="0" err="1"/>
              <a:t>dIAGRAM</a:t>
            </a:r>
            <a:endParaRPr lang="en-US" dirty="0"/>
          </a:p>
        </p:txBody>
      </p:sp>
      <p:pic>
        <p:nvPicPr>
          <p:cNvPr id="11" name="Content Placeholder 10" descr="A diagram of a company&#10;&#10;AI-generated content may be incorrect.">
            <a:extLst>
              <a:ext uri="{FF2B5EF4-FFF2-40B4-BE49-F238E27FC236}">
                <a16:creationId xmlns:a16="http://schemas.microsoft.com/office/drawing/2014/main" id="{C501CB33-1E81-8FE9-A365-78AF33AD5F6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78022" y="2344025"/>
            <a:ext cx="4677275" cy="383337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F842F-0EDE-75F4-9286-4E25361E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FB3F25C-CCF0-4681-94B2-8F24AE952C35}" type="datetime1"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F0291-6B57-1B0B-C3B3-316389E5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32320" y="6356350"/>
            <a:ext cx="429768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A63DC-D8D6-F94D-3965-C91A9155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72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7C8D-247C-6D2E-ADC1-75C80FA6C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Implementing Core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33059-1736-E0A1-79C2-C23D2FBF6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This phase focused on implementing the core features as per the POE requirements:</a:t>
            </a:r>
          </a:p>
          <a:p>
            <a:pPr lvl="1"/>
            <a:r>
              <a:rPr lang="en-US" sz="1600" b="1" dirty="0">
                <a:ea typeface="+mn-lt"/>
                <a:cs typeface="+mn-lt"/>
              </a:rPr>
              <a:t>Lecturer Claim Submission:</a:t>
            </a:r>
            <a:r>
              <a:rPr lang="en-US" sz="1600" dirty="0">
                <a:ea typeface="+mn-lt"/>
                <a:cs typeface="+mn-lt"/>
              </a:rPr>
              <a:t> A simple, intuitive form with fields for period, workload, and description.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Coordinator/Manager Views:</a:t>
            </a:r>
            <a:r>
              <a:rPr lang="en-US" sz="1600" dirty="0">
                <a:ea typeface="+mn-lt"/>
                <a:cs typeface="+mn-lt"/>
              </a:rPr>
              <a:t> Separate dashboards to display pending claims with 'Approve'/'Reject' functionality.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Document Upload:</a:t>
            </a:r>
            <a:r>
              <a:rPr lang="en-US" sz="1600" dirty="0">
                <a:ea typeface="+mn-lt"/>
                <a:cs typeface="+mn-lt"/>
              </a:rPr>
              <a:t> Secure file upload with type and size validation, linked directly to claims.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Status Tracking:</a:t>
            </a:r>
            <a:r>
              <a:rPr lang="en-US" sz="1600" dirty="0">
                <a:ea typeface="+mn-lt"/>
                <a:cs typeface="+mn-lt"/>
              </a:rPr>
              <a:t> A transparent system using status badges (</a:t>
            </a:r>
            <a:r>
              <a:rPr lang="en-US" sz="1600" dirty="0">
                <a:latin typeface="Consolas"/>
              </a:rPr>
              <a:t>Pending</a:t>
            </a:r>
            <a:r>
              <a:rPr lang="en-US" sz="1600" dirty="0">
                <a:ea typeface="+mn-lt"/>
                <a:cs typeface="+mn-lt"/>
              </a:rPr>
              <a:t>, </a:t>
            </a:r>
            <a:r>
              <a:rPr lang="en-US" sz="1600" dirty="0">
                <a:latin typeface="Consolas"/>
              </a:rPr>
              <a:t>Approved</a:t>
            </a:r>
            <a:r>
              <a:rPr lang="en-US" sz="1600" dirty="0">
                <a:ea typeface="+mn-lt"/>
                <a:cs typeface="+mn-lt"/>
              </a:rPr>
              <a:t>, </a:t>
            </a:r>
            <a:r>
              <a:rPr lang="en-US" sz="1600" dirty="0">
                <a:latin typeface="Consolas"/>
              </a:rPr>
              <a:t>Rejected</a:t>
            </a:r>
            <a:r>
              <a:rPr lang="en-US" sz="1600" dirty="0">
                <a:ea typeface="+mn-lt"/>
                <a:cs typeface="+mn-lt"/>
              </a:rPr>
              <a:t>) and a timeline view.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Reliability:</a:t>
            </a:r>
            <a:r>
              <a:rPr lang="en-US" sz="1600" dirty="0">
                <a:ea typeface="+mn-lt"/>
                <a:cs typeface="+mn-lt"/>
              </a:rPr>
              <a:t> Implemented basic error handling and data validation to ensure consistent information.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4BC6B-B4E0-1220-1898-083964E7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5D45-85A0-4F00-9930-40264F9327D6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4AC3F-5D93-6E0E-C9B8-00E856AD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974AC-5C9C-A20F-89EA-8E678E93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03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C9A7-308B-E2FA-D9C1-A7910922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Exemplary Feature: Claim Status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9F7D0-80BB-5F2C-9548-5E336F00C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sz="1600" b="1" dirty="0">
                <a:ea typeface="+mn-lt"/>
                <a:cs typeface="+mn-lt"/>
              </a:rPr>
              <a:t>Requirement:</a:t>
            </a:r>
            <a:r>
              <a:rPr lang="en-US" sz="1600">
                <a:ea typeface="+mn-lt"/>
                <a:cs typeface="+mn-lt"/>
              </a:rPr>
              <a:t> "The claim status can be tracked transparently until it is settled."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Our Implementation:</a:t>
            </a:r>
            <a:endParaRPr lang="en-US" dirty="0">
              <a:ea typeface="+mn-lt"/>
              <a:cs typeface="+mn-lt"/>
            </a:endParaRPr>
          </a:p>
          <a:p>
            <a:pPr lvl="2"/>
            <a:r>
              <a:rPr lang="en-US" sz="1600" b="1" dirty="0">
                <a:ea typeface="+mn-lt"/>
                <a:cs typeface="+mn-lt"/>
              </a:rPr>
              <a:t>Real-time Status Badges:</a:t>
            </a:r>
            <a:r>
              <a:rPr lang="en-US" sz="1600" dirty="0">
                <a:ea typeface="+mn-lt"/>
                <a:cs typeface="+mn-lt"/>
              </a:rPr>
              <a:t> Color-coded badges (</a:t>
            </a:r>
            <a:r>
              <a:rPr lang="en-US" sz="1600" dirty="0">
                <a:latin typeface="Consolas"/>
              </a:rPr>
              <a:t>badge-pending</a:t>
            </a:r>
            <a:r>
              <a:rPr lang="en-US" sz="1600" dirty="0">
                <a:ea typeface="+mn-lt"/>
                <a:cs typeface="+mn-lt"/>
              </a:rPr>
              <a:t>, </a:t>
            </a:r>
            <a:r>
              <a:rPr lang="en-US" sz="1600" dirty="0">
                <a:latin typeface="Consolas"/>
              </a:rPr>
              <a:t>badge-approved</a:t>
            </a:r>
            <a:r>
              <a:rPr lang="en-US" sz="1600" dirty="0">
                <a:ea typeface="+mn-lt"/>
                <a:cs typeface="+mn-lt"/>
              </a:rPr>
              <a:t>, </a:t>
            </a:r>
            <a:r>
              <a:rPr lang="en-US" sz="1600" dirty="0">
                <a:latin typeface="Consolas"/>
              </a:rPr>
              <a:t>badge-rejected</a:t>
            </a:r>
            <a:r>
              <a:rPr lang="en-US" sz="1600" dirty="0">
                <a:ea typeface="+mn-lt"/>
                <a:cs typeface="+mn-lt"/>
              </a:rPr>
              <a:t>) provide instant visual status.</a:t>
            </a:r>
            <a:endParaRPr lang="en-US" dirty="0">
              <a:ea typeface="+mn-lt"/>
              <a:cs typeface="+mn-lt"/>
            </a:endParaRPr>
          </a:p>
          <a:p>
            <a:pPr lvl="2"/>
            <a:r>
              <a:rPr lang="en-US" sz="1600" b="1" dirty="0">
                <a:ea typeface="+mn-lt"/>
                <a:cs typeface="+mn-lt"/>
              </a:rPr>
              <a:t>Detailed Status View:</a:t>
            </a:r>
            <a:r>
              <a:rPr lang="en-US" sz="1600" dirty="0">
                <a:ea typeface="+mn-lt"/>
                <a:cs typeface="+mn-lt"/>
              </a:rPr>
              <a:t> The </a:t>
            </a:r>
            <a:r>
              <a:rPr lang="en-US" sz="1600" dirty="0">
                <a:latin typeface="Consolas"/>
              </a:rPr>
              <a:t>Claims/Details</a:t>
            </a:r>
            <a:r>
              <a:rPr lang="en-US" sz="1600" dirty="0">
                <a:ea typeface="+mn-lt"/>
                <a:cs typeface="+mn-lt"/>
              </a:rPr>
              <a:t> view features a visual timeline showing the claim's journey from "Submitted" -&gt; "Under Review" -&gt; "Approved/Rejected".</a:t>
            </a:r>
            <a:endParaRPr lang="en-US" dirty="0">
              <a:ea typeface="+mn-lt"/>
              <a:cs typeface="+mn-lt"/>
            </a:endParaRPr>
          </a:p>
          <a:p>
            <a:pPr lvl="2"/>
            <a:r>
              <a:rPr lang="en-US" sz="1600" b="1" dirty="0">
                <a:ea typeface="+mn-lt"/>
                <a:cs typeface="+mn-lt"/>
              </a:rPr>
              <a:t>Transparency:</a:t>
            </a:r>
            <a:r>
              <a:rPr lang="en-US" sz="1600" dirty="0">
                <a:ea typeface="+mn-lt"/>
                <a:cs typeface="+mn-lt"/>
              </a:rPr>
              <a:t> Users always see the current status and who processed their claim (</a:t>
            </a:r>
            <a:r>
              <a:rPr lang="en-US" sz="1600" dirty="0" err="1">
                <a:latin typeface="Consolas"/>
              </a:rPr>
              <a:t>ProcessedByUser</a:t>
            </a:r>
            <a:r>
              <a:rPr lang="en-US" sz="1600" dirty="0">
                <a:ea typeface="+mn-lt"/>
                <a:cs typeface="+mn-lt"/>
              </a:rPr>
              <a:t>).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Result:</a:t>
            </a:r>
            <a:r>
              <a:rPr lang="en-US" sz="1600" dirty="0">
                <a:ea typeface="+mn-lt"/>
                <a:cs typeface="+mn-lt"/>
              </a:rPr>
              <a:t> Exceeds basic requirements by providing both a high-level overview and a detailed, user-friendly audit trail.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3410A-6A12-433A-E534-6A3B31B4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62373-8E45-459F-9FC0-20220A08FCC8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50D04-2A15-9805-37EF-502ED62E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A9F08-783C-7267-CF23-6D9913C5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159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11DA-8F7C-CEEB-E6B8-AEBE4DF2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57C13-CFEE-A50B-A903-0EC95CBEC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Lecturer view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F7BEAD-372A-D95F-5820-5B0E50B991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81349" y="2866192"/>
            <a:ext cx="4963538" cy="278903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187B9-E568-BCDD-346C-FFB4B7772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Manager View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07A5CC-D2D4-E7E2-8117-3A17C441F02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22669" y="2859325"/>
            <a:ext cx="4987982" cy="280277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639D0-3F3D-AC3E-AA8F-B38C8AF9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FA1C-EAFA-48CA-82DF-89DF0E2DD4D8}" type="datetime1"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BCA99-98F7-FA34-3FF1-FC0D4CA0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DB243-17D6-C908-BF21-F8388EDE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038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4183-7A42-BDC8-193F-71D2DA7B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46FEF-6AEC-1C69-6D69-780DED616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Coordinator view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25BDEB-3A9A-0956-0D8E-577BB0D16E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81349" y="2866192"/>
            <a:ext cx="4963538" cy="278903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925EAF-B767-6975-D51F-510BD38B3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Unit Test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D96CA5-DFDB-6E25-CB05-4677FD4B5A0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22669" y="2859325"/>
            <a:ext cx="4987982" cy="280277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B5542-4817-8130-2397-2A712167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2AF-3A4F-40AD-B737-B0DE70969501}" type="datetime1"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6F3C2-B309-E9A6-D478-27A7653D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AF953-3876-B40C-0BEC-0371139E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65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03B2-2D69-E853-0CF8-857776BC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3: Enhancing Efficiency with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84FA5-207B-E703-5743-2B49DA55B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 Part 3 focused on moving from a functional system to an intelligent, automated one, implementing features that "greatly exceed the required standard."</a:t>
            </a:r>
            <a:endParaRPr lang="en-US"/>
          </a:p>
          <a:p>
            <a:pPr lvl="1"/>
            <a:r>
              <a:rPr lang="en-US" sz="1600" b="1" dirty="0">
                <a:ea typeface="+mn-lt"/>
                <a:cs typeface="+mn-lt"/>
              </a:rPr>
              <a:t>Lecturer View:</a:t>
            </a:r>
            <a:r>
              <a:rPr lang="en-US" sz="1600" dirty="0">
                <a:ea typeface="+mn-lt"/>
                <a:cs typeface="+mn-lt"/>
              </a:rPr>
              <a:t> </a:t>
            </a:r>
            <a:r>
              <a:rPr lang="en-US" sz="1600" b="1" dirty="0">
                <a:ea typeface="+mn-lt"/>
                <a:cs typeface="+mn-lt"/>
              </a:rPr>
              <a:t>Auto-calculation</a:t>
            </a:r>
            <a:r>
              <a:rPr lang="en-US" sz="1600" dirty="0">
                <a:ea typeface="+mn-lt"/>
                <a:cs typeface="+mn-lt"/>
              </a:rPr>
              <a:t> and advanced </a:t>
            </a:r>
            <a:r>
              <a:rPr lang="en-US" sz="1600" b="1" dirty="0">
                <a:ea typeface="+mn-lt"/>
                <a:cs typeface="+mn-lt"/>
              </a:rPr>
              <a:t>validation checks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Coordinator View:</a:t>
            </a:r>
            <a:r>
              <a:rPr lang="en-US" sz="1600" dirty="0">
                <a:ea typeface="+mn-lt"/>
                <a:cs typeface="+mn-lt"/>
              </a:rPr>
              <a:t> </a:t>
            </a:r>
            <a:r>
              <a:rPr lang="en-US" sz="1600" b="1" dirty="0">
                <a:ea typeface="+mn-lt"/>
                <a:cs typeface="+mn-lt"/>
              </a:rPr>
              <a:t>Automated verification</a:t>
            </a:r>
            <a:r>
              <a:rPr lang="en-US" sz="1600" dirty="0">
                <a:ea typeface="+mn-lt"/>
                <a:cs typeface="+mn-lt"/>
              </a:rPr>
              <a:t> against business rules.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Manager View:</a:t>
            </a:r>
            <a:r>
              <a:rPr lang="en-US" sz="1600" dirty="0">
                <a:ea typeface="+mn-lt"/>
                <a:cs typeface="+mn-lt"/>
              </a:rPr>
              <a:t> </a:t>
            </a:r>
            <a:r>
              <a:rPr lang="en-US" sz="1600" b="1" dirty="0">
                <a:ea typeface="+mn-lt"/>
                <a:cs typeface="+mn-lt"/>
              </a:rPr>
              <a:t>Final approval workflow</a:t>
            </a:r>
            <a:r>
              <a:rPr lang="en-US" sz="1600" dirty="0">
                <a:ea typeface="+mn-lt"/>
                <a:cs typeface="+mn-lt"/>
              </a:rPr>
              <a:t> with additional checks.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HR View:</a:t>
            </a:r>
            <a:r>
              <a:rPr lang="en-US" sz="1600" dirty="0">
                <a:ea typeface="+mn-lt"/>
                <a:cs typeface="+mn-lt"/>
              </a:rPr>
              <a:t> </a:t>
            </a:r>
            <a:r>
              <a:rPr lang="en-US" sz="1600" b="1" dirty="0">
                <a:ea typeface="+mn-lt"/>
                <a:cs typeface="+mn-lt"/>
              </a:rPr>
              <a:t>Automated report generation</a:t>
            </a:r>
            <a:r>
              <a:rPr lang="en-US" sz="1600" dirty="0">
                <a:ea typeface="+mn-lt"/>
                <a:cs typeface="+mn-lt"/>
              </a:rPr>
              <a:t> and lecturer data management.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962D5-DCFB-74EF-8061-CC50478C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4A79-DE60-46D4-A4D8-D59CDB203DE5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02B3C-9CB1-974E-EF1C-0415520E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17F82-EDDF-9861-F534-20929CE5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39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45AC-44E8-6A2E-3D1C-B8AEB687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 View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C26E80-6080-C39D-A1B4-D7DF76D26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5311" y="2157984"/>
            <a:ext cx="6947474" cy="390381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C948F-8ED4-B486-E78C-2B79F07B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F79E5-DE21-4C6F-9B81-84391E5703AE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F1113-1A0D-3A70-1231-BB1290BE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3C034-9F10-2AFD-E14B-01F18E78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13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705F-9E38-F06C-A655-F6988874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Automation: Smart Claim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A4E-4FE0-9BDF-A602-61607818A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Feature 1: Auto-Calculation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How it works:</a:t>
            </a:r>
            <a:r>
              <a:rPr lang="en-US" sz="1600" dirty="0">
                <a:ea typeface="+mn-lt"/>
                <a:cs typeface="+mn-lt"/>
              </a:rPr>
              <a:t> JavaScript on the </a:t>
            </a:r>
            <a:r>
              <a:rPr lang="en-US" sz="1600" dirty="0" err="1">
                <a:latin typeface="Consolas"/>
              </a:rPr>
              <a:t>SubmitClaim</a:t>
            </a:r>
            <a:r>
              <a:rPr lang="en-US" sz="1600" dirty="0">
                <a:ea typeface="+mn-lt"/>
                <a:cs typeface="+mn-lt"/>
              </a:rPr>
              <a:t> view automatically calculates </a:t>
            </a:r>
            <a:r>
              <a:rPr lang="en-US" sz="1600" dirty="0">
                <a:latin typeface="Consolas"/>
              </a:rPr>
              <a:t>Total Amount = Workload * Hourly Rate</a:t>
            </a:r>
            <a:r>
              <a:rPr lang="en-US" sz="1600" dirty="0">
                <a:ea typeface="+mn-lt"/>
                <a:cs typeface="+mn-lt"/>
              </a:rPr>
              <a:t> in real-time as the user types.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Code Highlight:</a:t>
            </a:r>
            <a:r>
              <a:rPr lang="en-US" sz="1600" dirty="0">
                <a:ea typeface="+mn-lt"/>
                <a:cs typeface="+mn-lt"/>
              </a:rPr>
              <a:t> </a:t>
            </a:r>
            <a:r>
              <a:rPr lang="en-US" sz="1600" dirty="0" err="1">
                <a:latin typeface="Consolas"/>
              </a:rPr>
              <a:t>calculateTotal</a:t>
            </a:r>
            <a:r>
              <a:rPr lang="en-US" sz="1600" dirty="0">
                <a:latin typeface="Consolas"/>
              </a:rPr>
              <a:t>()</a:t>
            </a:r>
            <a:r>
              <a:rPr lang="en-US" sz="1600" dirty="0">
                <a:ea typeface="+mn-lt"/>
                <a:cs typeface="+mn-lt"/>
              </a:rPr>
              <a:t> function in the </a:t>
            </a:r>
            <a:r>
              <a:rPr lang="en-US" sz="1600" dirty="0" err="1">
                <a:latin typeface="Consolas"/>
              </a:rPr>
              <a:t>SubmitClaim.cshtml</a:t>
            </a:r>
            <a:r>
              <a:rPr lang="en-US" sz="1600" dirty="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Feature 2: Validation Checks 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How it works:</a:t>
            </a:r>
            <a:r>
              <a:rPr lang="en-US" sz="1600" dirty="0">
                <a:ea typeface="+mn-lt"/>
                <a:cs typeface="+mn-lt"/>
              </a:rPr>
              <a:t> Client-side (jQuery) and server-side (Data Annotations) validation.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Examples:</a:t>
            </a:r>
            <a:r>
              <a:rPr lang="en-US" sz="1600" dirty="0">
                <a:ea typeface="+mn-lt"/>
                <a:cs typeface="+mn-lt"/>
              </a:rPr>
              <a:t> Workload range (0.1-180 hours), file type/size validation.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Code Highlight:</a:t>
            </a:r>
            <a:r>
              <a:rPr lang="en-US" sz="1600" dirty="0">
                <a:ea typeface="+mn-lt"/>
                <a:cs typeface="+mn-lt"/>
              </a:rPr>
              <a:t> </a:t>
            </a:r>
            <a:r>
              <a:rPr lang="en-US" sz="1600" dirty="0">
                <a:latin typeface="Consolas"/>
              </a:rPr>
              <a:t>[Range(0.1, 180)]</a:t>
            </a:r>
            <a:r>
              <a:rPr lang="en-US" sz="1600" dirty="0">
                <a:ea typeface="+mn-lt"/>
                <a:cs typeface="+mn-lt"/>
              </a:rPr>
              <a:t> attribute on the </a:t>
            </a:r>
            <a:r>
              <a:rPr lang="en-US" sz="1600" dirty="0">
                <a:latin typeface="Consolas"/>
              </a:rPr>
              <a:t>Workload</a:t>
            </a:r>
            <a:r>
              <a:rPr lang="en-US" sz="1600" dirty="0">
                <a:ea typeface="+mn-lt"/>
                <a:cs typeface="+mn-lt"/>
              </a:rPr>
              <a:t> property.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Benefit:</a:t>
            </a:r>
            <a:r>
              <a:rPr lang="en-US" dirty="0">
                <a:ea typeface="+mn-lt"/>
                <a:cs typeface="+mn-lt"/>
              </a:rPr>
              <a:t> Eliminates calculation errors and ensures data integrity upon submission.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F29F-E42C-8AEA-F239-40E216E65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6A235-648A-409F-BE18-96BC3ED46231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421D-4579-3C23-EC66-60FB617B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337A7-C617-E44A-D087-8B8C5B17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01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5FF2-9AE9-DDC5-4A0A-974CBC1C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Automation: Coordinator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F79D5-F7E4-6EB5-8E68-F3843A181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Feature: Automated Verification &amp; Approval Workflow (POE Requirement Met)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How it works:</a:t>
            </a:r>
            <a:r>
              <a:rPr lang="en-US" sz="1600" dirty="0">
                <a:ea typeface="+mn-lt"/>
                <a:cs typeface="+mn-lt"/>
              </a:rPr>
              <a:t> The </a:t>
            </a:r>
            <a:r>
              <a:rPr lang="en-US" sz="1600" dirty="0" err="1">
                <a:latin typeface="Consolas"/>
              </a:rPr>
              <a:t>CoordinatorController.Approve</a:t>
            </a:r>
            <a:r>
              <a:rPr lang="en-US" sz="1600" dirty="0">
                <a:latin typeface="Consolas"/>
              </a:rPr>
              <a:t>()</a:t>
            </a:r>
            <a:r>
              <a:rPr lang="en-US" sz="1600" dirty="0">
                <a:ea typeface="+mn-lt"/>
                <a:cs typeface="+mn-lt"/>
              </a:rPr>
              <a:t> action calls </a:t>
            </a:r>
            <a:r>
              <a:rPr lang="en-US" sz="1600" dirty="0" err="1">
                <a:latin typeface="Consolas"/>
              </a:rPr>
              <a:t>VerifyClaimAgainstCriteria</a:t>
            </a:r>
            <a:r>
              <a:rPr lang="en-US" sz="1600" dirty="0">
                <a:latin typeface="Consolas"/>
              </a:rPr>
              <a:t>()</a:t>
            </a:r>
            <a:r>
              <a:rPr lang="en-US" sz="1600" dirty="0">
                <a:ea typeface="+mn-lt"/>
                <a:cs typeface="+mn-lt"/>
              </a:rPr>
              <a:t>. This method automatically checks claims against predefined business rules:</a:t>
            </a:r>
            <a:endParaRPr lang="en-US" dirty="0">
              <a:ea typeface="+mn-lt"/>
              <a:cs typeface="+mn-lt"/>
            </a:endParaRPr>
          </a:p>
          <a:p>
            <a:pPr marL="971550" lvl="2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Workload is within limits (0-180 hours).</a:t>
            </a:r>
            <a:endParaRPr lang="en-US" dirty="0">
              <a:ea typeface="+mn-lt"/>
              <a:cs typeface="+mn-lt"/>
            </a:endParaRPr>
          </a:p>
          <a:p>
            <a:pPr marL="971550" lvl="2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Hourly rate is valid.</a:t>
            </a:r>
            <a:endParaRPr lang="en-US" dirty="0">
              <a:ea typeface="+mn-lt"/>
              <a:cs typeface="+mn-lt"/>
            </a:endParaRPr>
          </a:p>
          <a:p>
            <a:pPr marL="971550" lvl="2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Total amount is calculated correctly.</a:t>
            </a:r>
            <a:endParaRPr lang="en-US" dirty="0">
              <a:ea typeface="+mn-lt"/>
              <a:cs typeface="+mn-lt"/>
            </a:endParaRPr>
          </a:p>
          <a:p>
            <a:pPr marL="971550" lvl="2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Supporting documents are attached.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Automated Workflow:</a:t>
            </a:r>
            <a:r>
              <a:rPr lang="en-US" sz="1600" dirty="0">
                <a:ea typeface="+mn-lt"/>
                <a:cs typeface="+mn-lt"/>
              </a:rPr>
              <a:t> Upon approval, the claim status automatically transitions from </a:t>
            </a:r>
            <a:r>
              <a:rPr lang="en-US" sz="1600" dirty="0">
                <a:latin typeface="Consolas"/>
              </a:rPr>
              <a:t>Pending</a:t>
            </a:r>
            <a:r>
              <a:rPr lang="en-US" sz="1600" dirty="0">
                <a:ea typeface="+mn-lt"/>
                <a:cs typeface="+mn-lt"/>
              </a:rPr>
              <a:t> to </a:t>
            </a:r>
            <a:r>
              <a:rPr lang="en-US" sz="1600" dirty="0" err="1">
                <a:latin typeface="Consolas"/>
              </a:rPr>
              <a:t>CoordinatorApproved</a:t>
            </a:r>
            <a:r>
              <a:rPr lang="en-US" sz="1600" dirty="0">
                <a:ea typeface="+mn-lt"/>
                <a:cs typeface="+mn-lt"/>
              </a:rPr>
              <a:t>, pushing it to the Manager's dashboard.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Benefit:</a:t>
            </a:r>
            <a:r>
              <a:rPr lang="en-US" dirty="0">
                <a:ea typeface="+mn-lt"/>
                <a:cs typeface="+mn-lt"/>
              </a:rPr>
              <a:t> Ensures policy compliance and standardizes the initial review process.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519BF-D184-DCF6-8DF9-07C69577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10BC-CD71-4380-9CBB-450EE14AB150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7F4BE-20F2-AE7D-742E-E4DFF371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552B1-8C60-A369-4EF4-E0B05277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138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60C2-A2AF-234C-6B09-08B62A958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Automation: Manager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66DF2-81FE-A6F3-4FF1-571BEEEF8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Feature: Final Verification &amp; Settlement 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How it works:</a:t>
            </a:r>
            <a:r>
              <a:rPr lang="en-US" sz="1600" dirty="0">
                <a:ea typeface="+mn-lt"/>
                <a:cs typeface="+mn-lt"/>
              </a:rPr>
              <a:t> The Manager's dashboard aggregates claims from both </a:t>
            </a:r>
            <a:r>
              <a:rPr lang="en-US" sz="1600" dirty="0">
                <a:latin typeface="Consolas"/>
              </a:rPr>
              <a:t>Pending</a:t>
            </a:r>
            <a:r>
              <a:rPr lang="en-US" sz="1600" dirty="0">
                <a:ea typeface="+mn-lt"/>
                <a:cs typeface="+mn-lt"/>
              </a:rPr>
              <a:t> and </a:t>
            </a:r>
            <a:r>
              <a:rPr lang="en-US" sz="1600" dirty="0" err="1">
                <a:latin typeface="Consolas"/>
              </a:rPr>
              <a:t>CoordinatorApproved</a:t>
            </a:r>
            <a:r>
              <a:rPr lang="en-US" sz="1600" dirty="0">
                <a:ea typeface="+mn-lt"/>
                <a:cs typeface="+mn-lt"/>
              </a:rPr>
              <a:t> statuses. The </a:t>
            </a:r>
            <a:r>
              <a:rPr lang="en-US" sz="1600" dirty="0" err="1">
                <a:latin typeface="Consolas"/>
              </a:rPr>
              <a:t>FinalApprove</a:t>
            </a:r>
            <a:r>
              <a:rPr lang="en-US" sz="1600" dirty="0">
                <a:ea typeface="+mn-lt"/>
                <a:cs typeface="+mn-lt"/>
              </a:rPr>
              <a:t> action performs a final check (</a:t>
            </a:r>
            <a:r>
              <a:rPr lang="en-US" sz="1600" dirty="0" err="1">
                <a:latin typeface="Consolas"/>
              </a:rPr>
              <a:t>PerformFinalVerification</a:t>
            </a:r>
            <a:r>
              <a:rPr lang="en-US" sz="1600" dirty="0">
                <a:ea typeface="+mn-lt"/>
                <a:cs typeface="+mn-lt"/>
              </a:rPr>
              <a:t>), such as flagging claims over R10,000.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Streamlined Processing:</a:t>
            </a:r>
            <a:r>
              <a:rPr lang="en-US" sz="1600" dirty="0">
                <a:ea typeface="+mn-lt"/>
                <a:cs typeface="+mn-lt"/>
              </a:rPr>
              <a:t> Provides a single view for all claims requiring final authority.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Benefit:</a:t>
            </a:r>
            <a:r>
              <a:rPr lang="en-US" dirty="0">
                <a:ea typeface="+mn-lt"/>
                <a:cs typeface="+mn-lt"/>
              </a:rPr>
              <a:t> Provides managerial oversight and ensures a seamless, error-free transition to "Approved" status for payment.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DE87A-A745-E613-59C7-28DFC5F0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6544-93DF-4602-96FD-DA97234D8C71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63458-E1A3-D0B1-CA7F-5D24D05F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8000A-D906-56DA-1200-9C451685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617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0EEE-35BB-F96F-1D10-1EB9BC91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Automation: HR/Admin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443D4-A4B2-BE71-9F9C-20C857DDC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Feature 1: Lecturer Data Management 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How it works:</a:t>
            </a:r>
            <a:r>
              <a:rPr lang="en-US" sz="1600" dirty="0">
                <a:ea typeface="+mn-lt"/>
                <a:cs typeface="+mn-lt"/>
              </a:rPr>
              <a:t> The </a:t>
            </a:r>
            <a:r>
              <a:rPr lang="en-US" sz="1600" dirty="0" err="1">
                <a:latin typeface="Consolas"/>
              </a:rPr>
              <a:t>HRController.ManageLecturers</a:t>
            </a:r>
            <a:r>
              <a:rPr lang="en-US" sz="1600" dirty="0">
                <a:latin typeface="Consolas"/>
              </a:rPr>
              <a:t>()</a:t>
            </a:r>
            <a:r>
              <a:rPr lang="en-US" sz="1600" dirty="0">
                <a:ea typeface="+mn-lt"/>
                <a:cs typeface="+mn-lt"/>
              </a:rPr>
              <a:t> view provides a central list. A modal-based form allows HR/Admins to update personal information seamlessly.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Feature 2: Automated Report Generation 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How it works:</a:t>
            </a:r>
            <a:r>
              <a:rPr lang="en-US" sz="1600" dirty="0">
                <a:ea typeface="+mn-lt"/>
                <a:cs typeface="+mn-lt"/>
              </a:rPr>
              <a:t> The </a:t>
            </a:r>
            <a:r>
              <a:rPr lang="en-US" sz="1600" dirty="0" err="1">
                <a:latin typeface="Consolas"/>
              </a:rPr>
              <a:t>GeneratePaymentReport</a:t>
            </a:r>
            <a:r>
              <a:rPr lang="en-US" sz="1600" dirty="0">
                <a:latin typeface="Consolas"/>
              </a:rPr>
              <a:t>()</a:t>
            </a:r>
            <a:r>
              <a:rPr lang="en-US" sz="1600" dirty="0">
                <a:ea typeface="+mn-lt"/>
                <a:cs typeface="+mn-lt"/>
              </a:rPr>
              <a:t> action uses </a:t>
            </a:r>
            <a:r>
              <a:rPr lang="en-US" sz="1600" b="1" dirty="0">
                <a:ea typeface="+mn-lt"/>
                <a:cs typeface="+mn-lt"/>
              </a:rPr>
              <a:t>LINQ</a:t>
            </a:r>
            <a:r>
              <a:rPr lang="en-US" sz="1600" dirty="0">
                <a:ea typeface="+mn-lt"/>
                <a:cs typeface="+mn-lt"/>
              </a:rPr>
              <a:t> to query approved claims. It dynamically generates and downloads a CSV or PDF file for payroll processing.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Benefit:</a:t>
            </a:r>
            <a:r>
              <a:rPr lang="en-US" dirty="0">
                <a:ea typeface="+mn-lt"/>
                <a:cs typeface="+mn-lt"/>
              </a:rPr>
              <a:t> Eliminates manual data compilation and reduces administrative effort.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9D9D7-306B-0BE4-55CA-DC1C34B8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0179-EF04-4CC3-8193-73E387AE7A78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0D4D-5076-3955-585B-C8708451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899E0-79BE-A756-62A4-58E519BD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90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7F4FC-3728-86FA-8EB2-3144EAB2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and </a:t>
            </a:r>
            <a:r>
              <a:rPr lang="en-US"/>
              <a:t>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FE41D-5B3F-036E-9500-E2A37D78B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Frontend: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  <a:hlinkClick r:id="rId2"/>
              </a:rPr>
              <a:t>ASP.NET</a:t>
            </a:r>
            <a:r>
              <a:rPr lang="en-US" dirty="0">
                <a:ea typeface="+mn-lt"/>
                <a:cs typeface="+mn-lt"/>
              </a:rPr>
              <a:t> Core MVC (Razor Pages), Bootstrap 5, JavaScript/jQuery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Backend:</a:t>
            </a:r>
            <a:r>
              <a:rPr lang="en-US" dirty="0">
                <a:ea typeface="+mn-lt"/>
                <a:cs typeface="+mn-lt"/>
              </a:rPr>
              <a:t> C#, </a:t>
            </a:r>
            <a:r>
              <a:rPr lang="en-US" dirty="0">
                <a:ea typeface="+mn-lt"/>
                <a:cs typeface="+mn-lt"/>
                <a:hlinkClick r:id="rId2"/>
              </a:rPr>
              <a:t>ASP.NET</a:t>
            </a:r>
            <a:r>
              <a:rPr lang="en-US" dirty="0">
                <a:ea typeface="+mn-lt"/>
                <a:cs typeface="+mn-lt"/>
              </a:rPr>
              <a:t> Core 8+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Database:</a:t>
            </a:r>
            <a:r>
              <a:rPr lang="en-US" dirty="0">
                <a:ea typeface="+mn-lt"/>
                <a:cs typeface="+mn-lt"/>
              </a:rPr>
              <a:t> SQL Server with Entity Framework Core (Code-First)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Authentication &amp; Authorization: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  <a:hlinkClick r:id="rId2"/>
              </a:rPr>
              <a:t>ASP.NET</a:t>
            </a:r>
            <a:r>
              <a:rPr lang="en-US" dirty="0">
                <a:ea typeface="+mn-lt"/>
                <a:cs typeface="+mn-lt"/>
              </a:rPr>
              <a:t> Core Identity (</a:t>
            </a:r>
            <a:r>
              <a:rPr lang="en-US" dirty="0">
                <a:latin typeface="Consolas"/>
              </a:rPr>
              <a:t>Administrator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dirty="0">
                <a:latin typeface="Consolas"/>
              </a:rPr>
              <a:t>Coordinator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dirty="0">
                <a:latin typeface="Consolas"/>
              </a:rPr>
              <a:t>Manager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dirty="0">
                <a:latin typeface="Consolas"/>
              </a:rPr>
              <a:t>Lecturer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Key Features: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Role-Based UI:</a:t>
            </a:r>
            <a:r>
              <a:rPr lang="en-US" dirty="0">
                <a:ea typeface="+mn-lt"/>
                <a:cs typeface="+mn-lt"/>
              </a:rPr>
              <a:t> Dynamic navigation bar that changes based on user role.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Repository Pattern:</a:t>
            </a:r>
            <a:r>
              <a:rPr lang="en-US" dirty="0">
                <a:ea typeface="+mn-lt"/>
                <a:cs typeface="+mn-lt"/>
              </a:rPr>
              <a:t> Implied through the use of </a:t>
            </a:r>
            <a:r>
              <a:rPr lang="en-US" dirty="0" err="1">
                <a:latin typeface="Consolas"/>
              </a:rPr>
              <a:t>ApplicationDbContext</a:t>
            </a:r>
            <a:r>
              <a:rPr lang="en-US" dirty="0">
                <a:ea typeface="+mn-lt"/>
                <a:cs typeface="+mn-lt"/>
              </a:rPr>
              <a:t> and services.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Dependency Injection:</a:t>
            </a:r>
            <a:r>
              <a:rPr lang="en-US" dirty="0">
                <a:ea typeface="+mn-lt"/>
                <a:cs typeface="+mn-lt"/>
              </a:rPr>
              <a:t> Used throughout for </a:t>
            </a:r>
            <a:r>
              <a:rPr lang="en-US" dirty="0" err="1">
                <a:latin typeface="Consolas"/>
              </a:rPr>
              <a:t>UserManager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dirty="0" err="1">
                <a:latin typeface="Consolas"/>
              </a:rPr>
              <a:t>DbContext</a:t>
            </a:r>
            <a:r>
              <a:rPr lang="en-US" dirty="0">
                <a:ea typeface="+mn-lt"/>
                <a:cs typeface="+mn-lt"/>
              </a:rPr>
              <a:t>, and custom services like </a:t>
            </a:r>
            <a:r>
              <a:rPr lang="en-US" dirty="0" err="1">
                <a:latin typeface="Consolas"/>
              </a:rPr>
              <a:t>INotificationService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2383E-5AD6-95A8-3540-DD041956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DA9F-8F3C-4C14-A4B5-EDBCE59BF47E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B508F-E520-23B9-69DD-75CA304F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8121A-5487-00F5-44E7-3A790B913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63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B308-FDA1-0275-EC67-09660B25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and User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4F1D4-C60D-C6FE-E51F-AB12B1636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Clean &amp; Consistent GUI:</a:t>
            </a:r>
            <a:r>
              <a:rPr lang="en-US" dirty="0">
                <a:ea typeface="+mn-lt"/>
                <a:cs typeface="+mn-lt"/>
              </a:rPr>
              <a:t> A professional black &amp; white theme with high contrast, developed from the initial prototype and refined through all parts.</a:t>
            </a:r>
          </a:p>
          <a:p>
            <a:r>
              <a:rPr lang="en-US" b="1" dirty="0">
                <a:ea typeface="+mn-lt"/>
                <a:cs typeface="+mn-lt"/>
              </a:rPr>
              <a:t>User-Friendly Navigation:</a:t>
            </a:r>
            <a:r>
              <a:rPr lang="en-US" dirty="0">
                <a:ea typeface="+mn-lt"/>
                <a:cs typeface="+mn-lt"/>
              </a:rPr>
              <a:t> Dynamic, role-based navigation bar.</a:t>
            </a:r>
          </a:p>
          <a:p>
            <a:r>
              <a:rPr lang="en-US" b="1" dirty="0">
                <a:ea typeface="+mn-lt"/>
                <a:cs typeface="+mn-lt"/>
              </a:rPr>
              <a:t>Responsive Design:</a:t>
            </a:r>
            <a:r>
              <a:rPr lang="en-US" dirty="0">
                <a:ea typeface="+mn-lt"/>
                <a:cs typeface="+mn-lt"/>
              </a:rPr>
              <a:t> Built with Bootstrap for all device sizes.</a:t>
            </a:r>
          </a:p>
          <a:p>
            <a:r>
              <a:rPr lang="en-US" b="1" dirty="0">
                <a:ea typeface="+mn-lt"/>
                <a:cs typeface="+mn-lt"/>
              </a:rPr>
              <a:t>Enhanced UX Features: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Theme Toggle:</a:t>
            </a:r>
            <a:r>
              <a:rPr lang="en-US" sz="1600" dirty="0">
                <a:ea typeface="+mn-lt"/>
                <a:cs typeface="+mn-lt"/>
              </a:rPr>
              <a:t> Light/Dark mode.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Status Badges &amp; Stats Cards:</a:t>
            </a:r>
            <a:r>
              <a:rPr lang="en-US" sz="1600" dirty="0">
                <a:ea typeface="+mn-lt"/>
                <a:cs typeface="+mn-lt"/>
              </a:rPr>
              <a:t> For instant visual recognition and dashboard overviews.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Action Buttons:</a:t>
            </a:r>
            <a:r>
              <a:rPr lang="en-US" sz="1600" dirty="0">
                <a:ea typeface="+mn-lt"/>
                <a:cs typeface="+mn-lt"/>
              </a:rPr>
              <a:t> Consistent and clear layouts.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1840B-5A35-98F9-021C-ECD13536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0703-A410-45A2-A489-4ECB85EC227D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98EA-3350-8890-A4E9-54DD1A06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841C0-0C84-9D66-45FA-8464A183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774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2CAF-4D86-2B1A-2CA8-74A9BD74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F9BFC-D000-0443-1C6B-27B286976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Mode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FBEB3-4E27-252D-3CE5-C8D41B50E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Dark Mode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B1D812-7C3B-C444-982F-F1EF6344C77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22669" y="2859325"/>
            <a:ext cx="4987982" cy="280277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D5A69-8389-48FE-F79E-A94AE0C3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5EF2A-2E5B-4455-9112-2F67B7BF7120}" type="datetime1"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76A01-2F1E-7358-9F36-EF7BBDF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CE940-FA75-72D8-881B-B4F6BED24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17</a:t>
            </a:fld>
            <a:endParaRPr lang="en-US" dirty="0"/>
          </a:p>
        </p:txBody>
      </p:sp>
      <p:pic>
        <p:nvPicPr>
          <p:cNvPr id="14" name="Content Placeholder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BC4883-3E19-6DAC-65FE-693E574244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81349" y="2866192"/>
            <a:ext cx="4963538" cy="27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57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6FD5-35EB-FDD3-119C-4E3E7985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Version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30FB2-3210-F5A5-8F26-1C67B1234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Version Control with GitHub:</a:t>
            </a:r>
            <a:r>
              <a:rPr lang="en-US" dirty="0">
                <a:ea typeface="+mn-lt"/>
                <a:cs typeface="+mn-lt"/>
              </a:rPr>
              <a:t> The entire project was developed using Git, with a repository containing the complete history from Part 1 to Part 3.</a:t>
            </a:r>
          </a:p>
          <a:p>
            <a:r>
              <a:rPr lang="en-US" b="1" dirty="0">
                <a:ea typeface="+mn-lt"/>
                <a:cs typeface="+mn-lt"/>
              </a:rPr>
              <a:t>Commit Strategy:</a:t>
            </a:r>
            <a:r>
              <a:rPr lang="en-US" dirty="0">
                <a:ea typeface="+mn-lt"/>
                <a:cs typeface="+mn-lt"/>
              </a:rPr>
              <a:t> Far exceeded the POE requirements with </a:t>
            </a:r>
            <a:r>
              <a:rPr lang="en-US" b="1" dirty="0">
                <a:ea typeface="+mn-lt"/>
                <a:cs typeface="+mn-lt"/>
              </a:rPr>
              <a:t>10+ commits per part</a:t>
            </a:r>
            <a:r>
              <a:rPr lang="en-US" dirty="0">
                <a:ea typeface="+mn-lt"/>
                <a:cs typeface="+mn-lt"/>
              </a:rPr>
              <a:t>, each with messages outlining the tasks that has been completed.</a:t>
            </a:r>
          </a:p>
          <a:p>
            <a:pPr lvl="1"/>
            <a:r>
              <a:rPr lang="en-US" sz="1600" b="1" dirty="0">
                <a:ea typeface="+mn-lt"/>
                <a:cs typeface="+mn-lt"/>
              </a:rPr>
              <a:t>Benefit:</a:t>
            </a:r>
            <a:r>
              <a:rPr lang="en-US" sz="1600" dirty="0">
                <a:ea typeface="+mn-lt"/>
                <a:cs typeface="+mn-lt"/>
              </a:rPr>
              <a:t> Demonstrates a professional, traceable, and iterative development process.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74DA7-9BBA-B633-BFC3-A8EF0503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E7F9-2E1A-45C5-B003-F1E0A437FCE1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EEEF1-85F7-97A7-D9DE-6AF0321D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6DB89-E619-B834-F926-E15AE772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62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B201-68FE-C2B0-8EC2-480BABE94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Impact of CMCS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ECCA6-D5B0-FF5D-610A-65626E9FA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Operational Efficiency:</a:t>
            </a:r>
            <a:r>
              <a:rPr lang="en-US">
                <a:ea typeface="+mn-lt"/>
                <a:cs typeface="+mn-lt"/>
              </a:rPr>
              <a:t> Drastically reduces claim processing time.</a:t>
            </a:r>
          </a:p>
          <a:p>
            <a:r>
              <a:rPr lang="en-US" b="1" dirty="0">
                <a:ea typeface="+mn-lt"/>
                <a:cs typeface="+mn-lt"/>
              </a:rPr>
              <a:t>Accuracy &amp; Compliance:</a:t>
            </a:r>
            <a:r>
              <a:rPr lang="en-US" dirty="0">
                <a:ea typeface="+mn-lt"/>
                <a:cs typeface="+mn-lt"/>
              </a:rPr>
              <a:t> Automated checks eliminate errors and enforce policies.</a:t>
            </a:r>
          </a:p>
          <a:p>
            <a:r>
              <a:rPr lang="en-US" b="1" dirty="0">
                <a:ea typeface="+mn-lt"/>
                <a:cs typeface="+mn-lt"/>
              </a:rPr>
              <a:t>Transparency &amp; Visibility:</a:t>
            </a:r>
            <a:r>
              <a:rPr lang="en-US" dirty="0">
                <a:ea typeface="+mn-lt"/>
                <a:cs typeface="+mn-lt"/>
              </a:rPr>
              <a:t> Real-time tracking for lecturers and clear workflows for staff.</a:t>
            </a:r>
          </a:p>
          <a:p>
            <a:r>
              <a:rPr lang="en-US" b="1" dirty="0">
                <a:ea typeface="+mn-lt"/>
                <a:cs typeface="+mn-lt"/>
              </a:rPr>
              <a:t>Data-Driven Decisions:</a:t>
            </a:r>
            <a:r>
              <a:rPr lang="en-US" dirty="0">
                <a:ea typeface="+mn-lt"/>
                <a:cs typeface="+mn-lt"/>
              </a:rPr>
              <a:t> Instant reporting for HR and management.</a:t>
            </a:r>
          </a:p>
          <a:p>
            <a:r>
              <a:rPr lang="en-US" b="1" dirty="0">
                <a:ea typeface="+mn-lt"/>
                <a:cs typeface="+mn-lt"/>
              </a:rPr>
              <a:t>Scalability &amp; Security:</a:t>
            </a:r>
            <a:r>
              <a:rPr lang="en-US" dirty="0">
                <a:ea typeface="+mn-lt"/>
                <a:cs typeface="+mn-lt"/>
              </a:rPr>
              <a:t> Role-based system ensures security and is built to grow.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43B38-B1E1-7ADF-EEFE-4B496A224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849AA-A5B0-43DB-841D-A899914719FE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64512-F979-C200-55A4-1E6236B7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D9486-83E8-C9FE-AA71-9E4D640E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43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2A6F-AB39-478C-C681-719520C8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73517-5570-E555-7B7B-937FA1C48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Conclusion:</a:t>
            </a:r>
            <a:r>
              <a:rPr lang="en-US">
                <a:ea typeface="+mn-lt"/>
                <a:cs typeface="+mn-lt"/>
              </a:rPr>
              <a:t> The CMCS successfully evolved from a basic prototype to a fully-automated, robust web application that meets and exceeds all POE requirements across all three parts.</a:t>
            </a:r>
          </a:p>
          <a:p>
            <a:r>
              <a:rPr lang="en-US" b="1">
                <a:ea typeface="+mn-lt"/>
                <a:cs typeface="+mn-lt"/>
              </a:rPr>
              <a:t>Learning Outcomes:</a:t>
            </a:r>
            <a:r>
              <a:rPr lang="en-US">
                <a:ea typeface="+mn-lt"/>
                <a:cs typeface="+mn-lt"/>
              </a:rPr>
              <a:t> Mastered </a:t>
            </a:r>
            <a:r>
              <a:rPr lang="en-US">
                <a:ea typeface="+mn-lt"/>
                <a:cs typeface="+mn-lt"/>
                <a:hlinkClick r:id="rId2"/>
              </a:rPr>
              <a:t>ASP.NET</a:t>
            </a:r>
            <a:r>
              <a:rPr lang="en-US">
                <a:ea typeface="+mn-lt"/>
                <a:cs typeface="+mn-lt"/>
              </a:rPr>
              <a:t> Core MVC, Entity Framework, Identity Management, UI/UX Design, and the implementation of complex business logic and automation.</a:t>
            </a:r>
          </a:p>
          <a:p>
            <a:r>
              <a:rPr lang="en-US" b="1">
                <a:ea typeface="+mn-lt"/>
                <a:cs typeface="+mn-lt"/>
              </a:rPr>
              <a:t>Future Work: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sz="1600">
                <a:ea typeface="+mn-lt"/>
                <a:cs typeface="+mn-lt"/>
              </a:rPr>
              <a:t>Email/SMS notifications for status updates.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sz="1600">
                <a:ea typeface="+mn-lt"/>
                <a:cs typeface="+mn-lt"/>
              </a:rPr>
              <a:t>Advanced analytics dashboard with charts.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sz="1600">
                <a:ea typeface="+mn-lt"/>
                <a:cs typeface="+mn-lt"/>
              </a:rPr>
              <a:t>Integration with financial systems for direct payment processing.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0310C-A984-484D-2E50-7EE06246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F47D-53C8-461D-B2EF-59A3DADA6FF7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90B0-011B-023E-F467-8682DD422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937E8-2A3D-BD99-EACB-4EB14288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796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4C9F-EBD2-81F3-A562-A05F69F7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79F05-7554-5EFC-E70C-5F0C49603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Microsoft (2025) </a:t>
            </a:r>
            <a:r>
              <a:rPr lang="en-US" i="1" dirty="0">
                <a:ea typeface="+mn-lt"/>
                <a:cs typeface="+mn-lt"/>
                <a:hlinkClick r:id="rId2"/>
              </a:rPr>
              <a:t>ASP.NET</a:t>
            </a:r>
            <a:r>
              <a:rPr lang="en-US" i="1" dirty="0">
                <a:ea typeface="+mn-lt"/>
                <a:cs typeface="+mn-lt"/>
              </a:rPr>
              <a:t> Core documentation</a:t>
            </a:r>
            <a:r>
              <a:rPr lang="en-US" dirty="0">
                <a:ea typeface="+mn-lt"/>
                <a:cs typeface="+mn-lt"/>
              </a:rPr>
              <a:t>. Available at: </a:t>
            </a:r>
            <a:r>
              <a:rPr lang="en-US" dirty="0">
                <a:ea typeface="+mn-lt"/>
                <a:cs typeface="+mn-lt"/>
                <a:hlinkClick r:id="rId3"/>
              </a:rPr>
              <a:t>https://learn.microsoft.com/en-us/aspnet/core/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Microsoft (2025) </a:t>
            </a:r>
            <a:r>
              <a:rPr lang="en-US" i="1" dirty="0">
                <a:ea typeface="+mn-lt"/>
                <a:cs typeface="+mn-lt"/>
              </a:rPr>
              <a:t>Entity Framework Core documentation</a:t>
            </a:r>
            <a:r>
              <a:rPr lang="en-US" dirty="0">
                <a:ea typeface="+mn-lt"/>
                <a:cs typeface="+mn-lt"/>
              </a:rPr>
              <a:t>. Available at: </a:t>
            </a:r>
            <a:r>
              <a:rPr lang="en-US" dirty="0">
                <a:ea typeface="+mn-lt"/>
                <a:cs typeface="+mn-lt"/>
                <a:hlinkClick r:id="rId4"/>
              </a:rPr>
              <a:t>https://learn.microsoft.com/en-us/ef/core/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.NET Foundation (2025) </a:t>
            </a:r>
            <a:r>
              <a:rPr lang="en-US" i="1" dirty="0">
                <a:ea typeface="+mn-lt"/>
                <a:cs typeface="+mn-lt"/>
              </a:rPr>
              <a:t>.NET Core documentation</a:t>
            </a:r>
            <a:r>
              <a:rPr lang="en-US" dirty="0">
                <a:ea typeface="+mn-lt"/>
                <a:cs typeface="+mn-lt"/>
              </a:rPr>
              <a:t>. Available at: </a:t>
            </a:r>
            <a:r>
              <a:rPr lang="en-US" dirty="0">
                <a:ea typeface="+mn-lt"/>
                <a:cs typeface="+mn-lt"/>
                <a:hlinkClick r:id="rId5"/>
              </a:rPr>
              <a:t>https://docs.microsoft.com/en-us/dotnet/core/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Bootstrap Team (2025) </a:t>
            </a:r>
            <a:r>
              <a:rPr lang="en-US" i="1" dirty="0">
                <a:ea typeface="+mn-lt"/>
                <a:cs typeface="+mn-lt"/>
              </a:rPr>
              <a:t>Bootstrap 5 documentation</a:t>
            </a:r>
            <a:r>
              <a:rPr lang="en-US" dirty="0">
                <a:ea typeface="+mn-lt"/>
                <a:cs typeface="+mn-lt"/>
              </a:rPr>
              <a:t>. Available at: </a:t>
            </a:r>
            <a:r>
              <a:rPr lang="en-US" dirty="0">
                <a:ea typeface="+mn-lt"/>
                <a:cs typeface="+mn-lt"/>
                <a:hlinkClick r:id="rId6"/>
              </a:rPr>
              <a:t>https://getbootstrap.com/docs/5.3/</a:t>
            </a:r>
            <a:r>
              <a:rPr lang="en-US" dirty="0">
                <a:ea typeface="+mn-lt"/>
                <a:cs typeface="+mn-lt"/>
              </a:rPr>
              <a:t> .</a:t>
            </a:r>
          </a:p>
          <a:p>
            <a:r>
              <a:rPr lang="en-US" dirty="0">
                <a:ea typeface="+mn-lt"/>
                <a:cs typeface="+mn-lt"/>
              </a:rPr>
              <a:t>jQuery Foundation (2025) </a:t>
            </a:r>
            <a:r>
              <a:rPr lang="en-US" i="1" dirty="0">
                <a:ea typeface="+mn-lt"/>
                <a:cs typeface="+mn-lt"/>
              </a:rPr>
              <a:t>jQuery API documentation</a:t>
            </a:r>
            <a:r>
              <a:rPr lang="en-US" dirty="0">
                <a:ea typeface="+mn-lt"/>
                <a:cs typeface="+mn-lt"/>
              </a:rPr>
              <a:t>. Available at: </a:t>
            </a:r>
            <a:r>
              <a:rPr lang="en-US" dirty="0">
                <a:ea typeface="+mn-lt"/>
                <a:cs typeface="+mn-lt"/>
                <a:hlinkClick r:id="rId7"/>
              </a:rPr>
              <a:t>https://api.jquery.com/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47D6-0485-9052-DFE5-6151B054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6F39-3DE8-4037-9E08-D2AFC9030CE9}" type="datetime1"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9B6B9-D4E2-D66D-50DB-6285B7831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F6E2F-B8B9-8233-8F4B-B200425FE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637411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BohoVogueVTI</vt:lpstr>
      <vt:lpstr>Contract Monthly Claim System</vt:lpstr>
      <vt:lpstr>Project Introduction and Objectives</vt:lpstr>
      <vt:lpstr>Part 1: The Foundation- Planning and Design </vt:lpstr>
      <vt:lpstr>PowerPoint Presentation</vt:lpstr>
      <vt:lpstr>Part 2: Implementing Core Functionality</vt:lpstr>
      <vt:lpstr>Part 2: Exemplary Feature: Claim Status Tracking</vt:lpstr>
      <vt:lpstr>PowerPoint Presentation</vt:lpstr>
      <vt:lpstr>PowerPoint Presentation</vt:lpstr>
      <vt:lpstr>Part 3: Enhancing Efficiency with Automation</vt:lpstr>
      <vt:lpstr>HR View</vt:lpstr>
      <vt:lpstr>Automation: Smart Claim Submission</vt:lpstr>
      <vt:lpstr>Automation: Coordinator view</vt:lpstr>
      <vt:lpstr>Automation: Manager View</vt:lpstr>
      <vt:lpstr>Automation: HR/Admin View</vt:lpstr>
      <vt:lpstr>System Architecture and Technology</vt:lpstr>
      <vt:lpstr>Design and User Experience</vt:lpstr>
      <vt:lpstr>PowerPoint Presentation</vt:lpstr>
      <vt:lpstr>Version Control </vt:lpstr>
      <vt:lpstr>The Impact of CMCS</vt:lpstr>
      <vt:lpstr>Conclusion and Future Enhancements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404</cp:revision>
  <dcterms:created xsi:type="dcterms:W3CDTF">2025-09-03T09:29:00Z</dcterms:created>
  <dcterms:modified xsi:type="dcterms:W3CDTF">2025-11-18T01:06:26Z</dcterms:modified>
</cp:coreProperties>
</file>